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3"/>
    <p:restoredTop sz="94622"/>
  </p:normalViewPr>
  <p:slideViewPr>
    <p:cSldViewPr snapToGrid="0">
      <p:cViewPr varScale="1">
        <p:scale>
          <a:sx n="113" d="100"/>
          <a:sy n="113" d="100"/>
        </p:scale>
        <p:origin x="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ales Salgado, Luis" userId="f0a28138-986f-4dac-92fd-0db88cff9893" providerId="ADAL" clId="{E39676A5-9E93-5A9B-8B6F-CDFD34DCF3FE}"/>
    <pc:docChg chg="undo custSel addSld delSld modSld modMainMaster">
      <pc:chgData name="Morales Salgado, Luis" userId="f0a28138-986f-4dac-92fd-0db88cff9893" providerId="ADAL" clId="{E39676A5-9E93-5A9B-8B6F-CDFD34DCF3FE}" dt="2026-10-18T17:44:13.686" v="2139" actId="1076"/>
      <pc:docMkLst>
        <pc:docMk/>
      </pc:docMkLst>
      <pc:sldChg chg="addSp delSp modSp mod setBg addAnim delAnim">
        <pc:chgData name="Morales Salgado, Luis" userId="f0a28138-986f-4dac-92fd-0db88cff9893" providerId="ADAL" clId="{E39676A5-9E93-5A9B-8B6F-CDFD34DCF3FE}" dt="2026-10-18T17:43:31.614" v="2125"/>
        <pc:sldMkLst>
          <pc:docMk/>
          <pc:sldMk cId="3655603278" sldId="256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3655603278" sldId="256"/>
            <ac:spMk id="2" creationId="{D14CB738-E7C0-FC57-B99D-B97B27903D38}"/>
          </ac:spMkLst>
        </pc:spChg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3655603278" sldId="256"/>
            <ac:spMk id="3" creationId="{1276BA2C-B60D-8C1F-AA54-2A41526794B9}"/>
          </ac:spMkLst>
        </pc:spChg>
        <pc:spChg chg="add del">
          <ac:chgData name="Morales Salgado, Luis" userId="f0a28138-986f-4dac-92fd-0db88cff9893" providerId="ADAL" clId="{E39676A5-9E93-5A9B-8B6F-CDFD34DCF3FE}" dt="2026-10-18T17:42:53.112" v="2108" actId="26606"/>
          <ac:spMkLst>
            <pc:docMk/>
            <pc:sldMk cId="3655603278" sldId="256"/>
            <ac:spMk id="8" creationId="{5E7AA7E8-8006-4E1F-A566-FCF37EE6F35D}"/>
          </ac:spMkLst>
        </pc:spChg>
        <pc:cxnChg chg="add del">
          <ac:chgData name="Morales Salgado, Luis" userId="f0a28138-986f-4dac-92fd-0db88cff9893" providerId="ADAL" clId="{E39676A5-9E93-5A9B-8B6F-CDFD34DCF3FE}" dt="2026-10-18T17:42:53.112" v="2108" actId="26606"/>
          <ac:cxnSpMkLst>
            <pc:docMk/>
            <pc:sldMk cId="3655603278" sldId="256"/>
            <ac:cxnSpMk id="10" creationId="{56020367-4FD5-4596-8E10-C5F095CD8DBF}"/>
          </ac:cxnSpMkLst>
        </pc:cxnChg>
      </pc:sldChg>
      <pc:sldChg chg="addSp modSp new mod setBg">
        <pc:chgData name="Morales Salgado, Luis" userId="f0a28138-986f-4dac-92fd-0db88cff9893" providerId="ADAL" clId="{E39676A5-9E93-5A9B-8B6F-CDFD34DCF3FE}" dt="2026-10-18T17:43:31.728" v="2131" actId="27636"/>
        <pc:sldMkLst>
          <pc:docMk/>
          <pc:sldMk cId="1614484487" sldId="257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1614484487" sldId="257"/>
            <ac:spMk id="2" creationId="{28E2CA32-8DCE-8889-334F-6CE7D4AB4DE5}"/>
          </ac:spMkLst>
        </pc:spChg>
        <pc:spChg chg="mod">
          <ac:chgData name="Morales Salgado, Luis" userId="f0a28138-986f-4dac-92fd-0db88cff9893" providerId="ADAL" clId="{E39676A5-9E93-5A9B-8B6F-CDFD34DCF3FE}" dt="2026-10-18T17:43:31.728" v="2131" actId="27636"/>
          <ac:spMkLst>
            <pc:docMk/>
            <pc:sldMk cId="1614484487" sldId="257"/>
            <ac:spMk id="3" creationId="{813FE971-CB27-3E4C-70A0-74B3DA052C90}"/>
          </ac:spMkLst>
        </pc:spChg>
        <pc:spChg chg="add mod">
          <ac:chgData name="Morales Salgado, Luis" userId="f0a28138-986f-4dac-92fd-0db88cff9893" providerId="ADAL" clId="{E39676A5-9E93-5A9B-8B6F-CDFD34DCF3FE}" dt="2026-10-16T01:37:49.732" v="679" actId="1076"/>
          <ac:spMkLst>
            <pc:docMk/>
            <pc:sldMk cId="1614484487" sldId="257"/>
            <ac:spMk id="4" creationId="{51ED0299-30A4-15C7-C98E-098018B0C59F}"/>
          </ac:spMkLst>
        </pc:spChg>
      </pc:sldChg>
      <pc:sldChg chg="addSp delSp modSp new mod setBg">
        <pc:chgData name="Morales Salgado, Luis" userId="f0a28138-986f-4dac-92fd-0db88cff9893" providerId="ADAL" clId="{E39676A5-9E93-5A9B-8B6F-CDFD34DCF3FE}" dt="2026-10-18T17:44:13.686" v="2139" actId="1076"/>
        <pc:sldMkLst>
          <pc:docMk/>
          <pc:sldMk cId="274888676" sldId="258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274888676" sldId="258"/>
            <ac:spMk id="2" creationId="{059B9F8A-23B7-7C0E-B631-A9753304C53B}"/>
          </ac:spMkLst>
        </pc:spChg>
        <pc:spChg chg="mod">
          <ac:chgData name="Morales Salgado, Luis" userId="f0a28138-986f-4dac-92fd-0db88cff9893" providerId="ADAL" clId="{E39676A5-9E93-5A9B-8B6F-CDFD34DCF3FE}" dt="2026-10-18T17:44:13.686" v="2139" actId="1076"/>
          <ac:spMkLst>
            <pc:docMk/>
            <pc:sldMk cId="274888676" sldId="258"/>
            <ac:spMk id="3" creationId="{83CA8F31-BBF1-646C-A55C-B45F1510DD16}"/>
          </ac:spMkLst>
        </pc:spChg>
        <pc:spChg chg="add del">
          <ac:chgData name="Morales Salgado, Luis" userId="f0a28138-986f-4dac-92fd-0db88cff9893" providerId="ADAL" clId="{E39676A5-9E93-5A9B-8B6F-CDFD34DCF3FE}" dt="2026-10-18T17:41:56.345" v="2104" actId="26606"/>
          <ac:spMkLst>
            <pc:docMk/>
            <pc:sldMk cId="274888676" sldId="258"/>
            <ac:spMk id="8" creationId="{A2679492-7988-4050-9056-542444452411}"/>
          </ac:spMkLst>
        </pc:spChg>
        <pc:spChg chg="add del">
          <ac:chgData name="Morales Salgado, Luis" userId="f0a28138-986f-4dac-92fd-0db88cff9893" providerId="ADAL" clId="{E39676A5-9E93-5A9B-8B6F-CDFD34DCF3FE}" dt="2026-10-18T17:41:56.345" v="2104" actId="26606"/>
          <ac:spMkLst>
            <pc:docMk/>
            <pc:sldMk cId="274888676" sldId="258"/>
            <ac:spMk id="10" creationId="{B091B163-7D61-4891-ABCF-5C13D9C418D0}"/>
          </ac:spMkLst>
        </pc:spChg>
        <pc:grpChg chg="add del">
          <ac:chgData name="Morales Salgado, Luis" userId="f0a28138-986f-4dac-92fd-0db88cff9893" providerId="ADAL" clId="{E39676A5-9E93-5A9B-8B6F-CDFD34DCF3FE}" dt="2026-10-18T17:41:56.345" v="2104" actId="26606"/>
          <ac:grpSpMkLst>
            <pc:docMk/>
            <pc:sldMk cId="274888676" sldId="258"/>
            <ac:grpSpMk id="12" creationId="{0474DF76-993E-44DE-AFB0-C416182ACECF}"/>
          </ac:grpSpMkLst>
        </pc:grpChg>
        <pc:cxnChg chg="add del">
          <ac:chgData name="Morales Salgado, Luis" userId="f0a28138-986f-4dac-92fd-0db88cff9893" providerId="ADAL" clId="{E39676A5-9E93-5A9B-8B6F-CDFD34DCF3FE}" dt="2026-10-18T17:41:56.345" v="2104" actId="26606"/>
          <ac:cxnSpMkLst>
            <pc:docMk/>
            <pc:sldMk cId="274888676" sldId="258"/>
            <ac:cxnSpMk id="17" creationId="{C49DA8F6-BCC1-4447-B54C-57856834B94B}"/>
          </ac:cxnSpMkLst>
        </pc:cxnChg>
      </pc:sldChg>
      <pc:sldChg chg="addSp modSp new mod">
        <pc:chgData name="Morales Salgado, Luis" userId="f0a28138-986f-4dac-92fd-0db88cff9893" providerId="ADAL" clId="{E39676A5-9E93-5A9B-8B6F-CDFD34DCF3FE}" dt="2026-10-18T17:43:31.688" v="2127" actId="27636"/>
        <pc:sldMkLst>
          <pc:docMk/>
          <pc:sldMk cId="4036252272" sldId="259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4036252272" sldId="259"/>
            <ac:spMk id="2" creationId="{2BB1D9D0-5371-36AB-0A49-57018B83E509}"/>
          </ac:spMkLst>
        </pc:spChg>
        <pc:spChg chg="mod">
          <ac:chgData name="Morales Salgado, Luis" userId="f0a28138-986f-4dac-92fd-0db88cff9893" providerId="ADAL" clId="{E39676A5-9E93-5A9B-8B6F-CDFD34DCF3FE}" dt="2026-10-18T17:43:31.688" v="2127" actId="27636"/>
          <ac:spMkLst>
            <pc:docMk/>
            <pc:sldMk cId="4036252272" sldId="259"/>
            <ac:spMk id="3" creationId="{EECD31C6-DD5D-DF89-8BA4-E0A62B6079A2}"/>
          </ac:spMkLst>
        </pc:spChg>
        <pc:spChg chg="add mod">
          <ac:chgData name="Morales Salgado, Luis" userId="f0a28138-986f-4dac-92fd-0db88cff9893" providerId="ADAL" clId="{E39676A5-9E93-5A9B-8B6F-CDFD34DCF3FE}" dt="2026-10-16T01:57:49.781" v="1902" actId="1076"/>
          <ac:spMkLst>
            <pc:docMk/>
            <pc:sldMk cId="4036252272" sldId="259"/>
            <ac:spMk id="4" creationId="{22551A99-166D-6E95-BCB0-FFF2E371EEA2}"/>
          </ac:spMkLst>
        </pc:spChg>
      </pc:sldChg>
      <pc:sldChg chg="addSp modSp new mod">
        <pc:chgData name="Morales Salgado, Luis" userId="f0a28138-986f-4dac-92fd-0db88cff9893" providerId="ADAL" clId="{E39676A5-9E93-5A9B-8B6F-CDFD34DCF3FE}" dt="2026-10-18T17:43:31.699" v="2128" actId="27636"/>
        <pc:sldMkLst>
          <pc:docMk/>
          <pc:sldMk cId="1164338998" sldId="260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1164338998" sldId="260"/>
            <ac:spMk id="2" creationId="{1D59B64B-6AA7-8FB8-CA61-A06390770A2C}"/>
          </ac:spMkLst>
        </pc:spChg>
        <pc:spChg chg="mod">
          <ac:chgData name="Morales Salgado, Luis" userId="f0a28138-986f-4dac-92fd-0db88cff9893" providerId="ADAL" clId="{E39676A5-9E93-5A9B-8B6F-CDFD34DCF3FE}" dt="2026-10-18T17:43:31.699" v="2128" actId="27636"/>
          <ac:spMkLst>
            <pc:docMk/>
            <pc:sldMk cId="1164338998" sldId="260"/>
            <ac:spMk id="3" creationId="{5EA4223C-DBB5-B926-8F39-13180CA3474B}"/>
          </ac:spMkLst>
        </pc:spChg>
        <pc:spChg chg="add mod">
          <ac:chgData name="Morales Salgado, Luis" userId="f0a28138-986f-4dac-92fd-0db88cff9893" providerId="ADAL" clId="{E39676A5-9E93-5A9B-8B6F-CDFD34DCF3FE}" dt="2026-10-16T02:02:16.713" v="2038" actId="1076"/>
          <ac:spMkLst>
            <pc:docMk/>
            <pc:sldMk cId="1164338998" sldId="260"/>
            <ac:spMk id="4" creationId="{C2E2E0CA-F539-8CB3-1973-AC419603EC0D}"/>
          </ac:spMkLst>
        </pc:spChg>
      </pc:sldChg>
      <pc:sldChg chg="addSp modSp new mod">
        <pc:chgData name="Morales Salgado, Luis" userId="f0a28138-986f-4dac-92fd-0db88cff9893" providerId="ADAL" clId="{E39676A5-9E93-5A9B-8B6F-CDFD34DCF3FE}" dt="2026-10-18T17:43:31.711" v="2129" actId="27636"/>
        <pc:sldMkLst>
          <pc:docMk/>
          <pc:sldMk cId="3309482165" sldId="261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3309482165" sldId="261"/>
            <ac:spMk id="2" creationId="{F7F8E836-5694-D7A4-D006-69CC315BCF96}"/>
          </ac:spMkLst>
        </pc:spChg>
        <pc:spChg chg="mod">
          <ac:chgData name="Morales Salgado, Luis" userId="f0a28138-986f-4dac-92fd-0db88cff9893" providerId="ADAL" clId="{E39676A5-9E93-5A9B-8B6F-CDFD34DCF3FE}" dt="2026-10-18T17:43:31.711" v="2129" actId="27636"/>
          <ac:spMkLst>
            <pc:docMk/>
            <pc:sldMk cId="3309482165" sldId="261"/>
            <ac:spMk id="3" creationId="{011F4CB9-A8DD-CD57-F979-27DAB98A772E}"/>
          </ac:spMkLst>
        </pc:spChg>
        <pc:spChg chg="add mod">
          <ac:chgData name="Morales Salgado, Luis" userId="f0a28138-986f-4dac-92fd-0db88cff9893" providerId="ADAL" clId="{E39676A5-9E93-5A9B-8B6F-CDFD34DCF3FE}" dt="2026-10-16T02:03:29.327" v="2079" actId="1076"/>
          <ac:spMkLst>
            <pc:docMk/>
            <pc:sldMk cId="3309482165" sldId="261"/>
            <ac:spMk id="4" creationId="{3794C1B4-B38E-F6CB-36B7-5D02FE7EE399}"/>
          </ac:spMkLst>
        </pc:spChg>
      </pc:sldChg>
      <pc:sldChg chg="modSp new mod">
        <pc:chgData name="Morales Salgado, Luis" userId="f0a28138-986f-4dac-92fd-0db88cff9893" providerId="ADAL" clId="{E39676A5-9E93-5A9B-8B6F-CDFD34DCF3FE}" dt="2026-10-18T17:43:31.717" v="2130" actId="27636"/>
        <pc:sldMkLst>
          <pc:docMk/>
          <pc:sldMk cId="768649432" sldId="262"/>
        </pc:sldMkLst>
        <pc:spChg chg="mod">
          <ac:chgData name="Morales Salgado, Luis" userId="f0a28138-986f-4dac-92fd-0db88cff9893" providerId="ADAL" clId="{E39676A5-9E93-5A9B-8B6F-CDFD34DCF3FE}" dt="2026-10-18T17:43:31.614" v="2125"/>
          <ac:spMkLst>
            <pc:docMk/>
            <pc:sldMk cId="768649432" sldId="262"/>
            <ac:spMk id="2" creationId="{BBF96D8D-C850-91EA-4B6C-C38838955C69}"/>
          </ac:spMkLst>
        </pc:spChg>
        <pc:spChg chg="mod">
          <ac:chgData name="Morales Salgado, Luis" userId="f0a28138-986f-4dac-92fd-0db88cff9893" providerId="ADAL" clId="{E39676A5-9E93-5A9B-8B6F-CDFD34DCF3FE}" dt="2026-10-18T17:43:31.717" v="2130" actId="27636"/>
          <ac:spMkLst>
            <pc:docMk/>
            <pc:sldMk cId="768649432" sldId="262"/>
            <ac:spMk id="3" creationId="{A254780D-7422-C56D-B83D-1B6C006F4C1D}"/>
          </ac:spMkLst>
        </pc:spChg>
      </pc:sldChg>
      <pc:sldMasterChg chg="setBg">
        <pc:chgData name="Morales Salgado, Luis" userId="f0a28138-986f-4dac-92fd-0db88cff9893" providerId="ADAL" clId="{E39676A5-9E93-5A9B-8B6F-CDFD34DCF3FE}" dt="2026-10-18T17:40:05.152" v="2099"/>
        <pc:sldMasterMkLst>
          <pc:docMk/>
          <pc:sldMasterMk cId="3637902884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9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44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7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6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06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9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78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30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38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13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6377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64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69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23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55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7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80D0B-57EA-5D4D-8EBF-8BFFA11DC757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05C50-90B9-944D-9DA2-3849FB6E4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44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rocs.2026.03.200" TargetMode="External"/><Relationship Id="rId2" Type="http://schemas.openxmlformats.org/officeDocument/2006/relationships/hyperlink" Target="https://doi.org/10.3127/ajis.v27i0.450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procs.2025.09.067" TargetMode="External"/><Relationship Id="rId4" Type="http://schemas.openxmlformats.org/officeDocument/2006/relationships/hyperlink" Target="https://doi.org/10.47750/QAS/22.184.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B738-E7C0-FC57-B99D-B97B27903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Scrum-Agile Approach</a:t>
            </a:r>
            <a:br>
              <a:rPr lang="en-US"/>
            </a:br>
            <a:r>
              <a:rPr lang="en-US"/>
              <a:t>SNHU Travel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6BA2C-B60D-8C1F-AA54-2A41526794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Luis Morales Salgado</a:t>
            </a:r>
          </a:p>
          <a:p>
            <a:r>
              <a:rPr lang="en-US"/>
              <a:t>CS 250</a:t>
            </a:r>
          </a:p>
          <a:p>
            <a:r>
              <a:rPr lang="en-US"/>
              <a:t>10/15/2026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60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CA32-8DCE-8889-334F-6CE7D4AB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FE971-CB27-3E4C-70A0-74B3DA052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Product Owner</a:t>
            </a:r>
          </a:p>
          <a:p>
            <a:r>
              <a:rPr lang="en-US" dirty="0"/>
              <a:t>Sets priorities and represents user/business needs</a:t>
            </a:r>
          </a:p>
          <a:p>
            <a:r>
              <a:rPr lang="en-US" dirty="0"/>
              <a:t>Makes sure the team understands what should be built</a:t>
            </a:r>
          </a:p>
          <a:p>
            <a:pPr marL="0" indent="0">
              <a:buNone/>
            </a:pPr>
            <a:r>
              <a:rPr lang="en-US" dirty="0"/>
              <a:t>Scrum Master</a:t>
            </a:r>
          </a:p>
          <a:p>
            <a:r>
              <a:rPr lang="en-US" dirty="0"/>
              <a:t>Helps remove impediments</a:t>
            </a:r>
          </a:p>
          <a:p>
            <a:r>
              <a:rPr lang="en-US" dirty="0"/>
              <a:t>Supports communication and keeps the team following Scrum practices</a:t>
            </a:r>
          </a:p>
          <a:p>
            <a:pPr marL="0" indent="0">
              <a:buNone/>
            </a:pPr>
            <a:r>
              <a:rPr lang="en-US" dirty="0"/>
              <a:t>Developers</a:t>
            </a:r>
          </a:p>
          <a:p>
            <a:r>
              <a:rPr lang="en-US" dirty="0"/>
              <a:t>Turn user stories and requirements into working software</a:t>
            </a:r>
          </a:p>
          <a:p>
            <a:r>
              <a:rPr lang="en-US" dirty="0"/>
              <a:t>Working with the team to clarify technical questions</a:t>
            </a:r>
          </a:p>
          <a:p>
            <a:pPr marL="0" indent="0">
              <a:buNone/>
            </a:pPr>
            <a:r>
              <a:rPr lang="en-US" dirty="0"/>
              <a:t>Testers</a:t>
            </a:r>
          </a:p>
          <a:p>
            <a:r>
              <a:rPr lang="en-US" dirty="0"/>
              <a:t>Check that features work as expected</a:t>
            </a:r>
          </a:p>
          <a:p>
            <a:r>
              <a:rPr lang="en-US" dirty="0"/>
              <a:t>Verify that requirements and acceptance criteria are met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D0299-30A4-15C7-C98E-098018B0C59F}"/>
              </a:ext>
            </a:extLst>
          </p:cNvPr>
          <p:cNvSpPr txBox="1"/>
          <p:nvPr/>
        </p:nvSpPr>
        <p:spPr>
          <a:xfrm>
            <a:off x="838200" y="6136773"/>
            <a:ext cx="2289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(Hidayati et al., 2021)</a:t>
            </a:r>
          </a:p>
        </p:txBody>
      </p:sp>
    </p:spTree>
    <p:extLst>
      <p:ext uri="{BB962C8B-B14F-4D97-AF65-F5344CB8AC3E}">
        <p14:creationId xmlns:p14="http://schemas.microsoft.com/office/powerpoint/2010/main" val="161448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9F8A-23B7-7C0E-B631-A9753304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SDLC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A8F31-BBF1-646C-A55C-B45F1510D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389" y="1809221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Planning / Requirements</a:t>
            </a:r>
          </a:p>
          <a:p>
            <a:r>
              <a:rPr lang="en-US" sz="1200" dirty="0"/>
              <a:t>Gather user needs and create prioritized user stories</a:t>
            </a:r>
          </a:p>
          <a:p>
            <a:pPr marL="0" indent="0">
              <a:buNone/>
            </a:pPr>
            <a:r>
              <a:rPr lang="en-US" sz="1200" dirty="0"/>
              <a:t>Design</a:t>
            </a:r>
          </a:p>
          <a:p>
            <a:r>
              <a:rPr lang="en-US" sz="1200" dirty="0"/>
              <a:t>Plan how the feature should work before development begins</a:t>
            </a:r>
          </a:p>
          <a:p>
            <a:pPr marL="0" indent="0">
              <a:buNone/>
            </a:pPr>
            <a:r>
              <a:rPr lang="en-US" sz="1200" dirty="0"/>
              <a:t>Development</a:t>
            </a:r>
          </a:p>
          <a:p>
            <a:r>
              <a:rPr lang="en-US" sz="1200" dirty="0"/>
              <a:t>Build small pieces of working software during the sprint</a:t>
            </a:r>
          </a:p>
          <a:p>
            <a:pPr marL="0" indent="0">
              <a:buNone/>
            </a:pPr>
            <a:r>
              <a:rPr lang="en-US" sz="1200" dirty="0"/>
              <a:t>Testing</a:t>
            </a:r>
          </a:p>
          <a:p>
            <a:r>
              <a:rPr lang="en-US" sz="1200" dirty="0"/>
              <a:t>Test features throughout development instead of waiting until the end</a:t>
            </a:r>
          </a:p>
          <a:p>
            <a:pPr marL="0" indent="0">
              <a:buNone/>
            </a:pPr>
            <a:r>
              <a:rPr lang="en-US" sz="1200" dirty="0"/>
              <a:t>Deployment</a:t>
            </a:r>
          </a:p>
          <a:p>
            <a:r>
              <a:rPr lang="en-US" sz="1200" dirty="0"/>
              <a:t>Release completed features when they are ready</a:t>
            </a:r>
          </a:p>
          <a:p>
            <a:pPr marL="0" indent="0">
              <a:buNone/>
            </a:pPr>
            <a:r>
              <a:rPr lang="en-US" sz="1200" dirty="0"/>
              <a:t>Maintenance</a:t>
            </a:r>
          </a:p>
          <a:p>
            <a:r>
              <a:rPr lang="en-US" sz="1200" dirty="0"/>
              <a:t>Continue fixing , updating, and improving the product after release</a:t>
            </a:r>
          </a:p>
          <a:p>
            <a:pPr marL="0" indent="0">
              <a:buNone/>
            </a:pPr>
            <a:r>
              <a:rPr lang="en-US" sz="1200" dirty="0"/>
              <a:t>In Agile, these phases repeat in short cycles instead of happening only once in a fixed order. (</a:t>
            </a:r>
            <a:r>
              <a:rPr lang="en-US" sz="1200" dirty="0" err="1"/>
              <a:t>Sitorus</a:t>
            </a:r>
            <a:r>
              <a:rPr lang="en-US" sz="1200" dirty="0"/>
              <a:t> et al., 2025)</a:t>
            </a:r>
          </a:p>
        </p:txBody>
      </p:sp>
    </p:spTree>
    <p:extLst>
      <p:ext uri="{BB962C8B-B14F-4D97-AF65-F5344CB8AC3E}">
        <p14:creationId xmlns:p14="http://schemas.microsoft.com/office/powerpoint/2010/main" val="27488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1D9D0-5371-36AB-0A49-57018B83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SNHU Travel: Agile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31C6-DD5D-DF89-8BA4-E0A62B60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User stories</a:t>
            </a:r>
          </a:p>
          <a:p>
            <a:r>
              <a:rPr lang="en-US" dirty="0"/>
              <a:t>Broke the project into smaller features like personalized destinations, vacation type, and maximum price</a:t>
            </a:r>
          </a:p>
          <a:p>
            <a:pPr marL="0" indent="0">
              <a:buNone/>
            </a:pPr>
            <a:r>
              <a:rPr lang="en-US" dirty="0"/>
              <a:t>Development and Testing</a:t>
            </a:r>
          </a:p>
          <a:p>
            <a:r>
              <a:rPr lang="en-US" dirty="0"/>
              <a:t>Developers worked from the user stories and testers checked whether the feature matched the expected behavior</a:t>
            </a:r>
          </a:p>
          <a:p>
            <a:pPr marL="0" indent="0">
              <a:buNone/>
            </a:pPr>
            <a:r>
              <a:rPr lang="en-US" dirty="0"/>
              <a:t>Changing Requirements</a:t>
            </a:r>
          </a:p>
          <a:p>
            <a:r>
              <a:rPr lang="en-US" dirty="0"/>
              <a:t>The project later shifted toward wellness and relaxing travel</a:t>
            </a:r>
          </a:p>
          <a:p>
            <a:r>
              <a:rPr lang="en-US" dirty="0"/>
              <a:t>The slideshow and destination choices were updated to match the new direction</a:t>
            </a:r>
          </a:p>
          <a:p>
            <a:pPr marL="0" indent="0">
              <a:buNone/>
            </a:pPr>
            <a:r>
              <a:rPr lang="en-US" dirty="0"/>
              <a:t>Why Agile Helped</a:t>
            </a:r>
          </a:p>
          <a:p>
            <a:r>
              <a:rPr lang="en-US" dirty="0"/>
              <a:t>The team could adjust the work without restarting the entire project</a:t>
            </a:r>
          </a:p>
          <a:p>
            <a:r>
              <a:rPr lang="en-US" dirty="0"/>
              <a:t>Feedback could be used during development instead of waiting until the 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51A99-166D-6E95-BCB0-FFF2E371EEA2}"/>
              </a:ext>
            </a:extLst>
          </p:cNvPr>
          <p:cNvSpPr txBox="1"/>
          <p:nvPr/>
        </p:nvSpPr>
        <p:spPr>
          <a:xfrm>
            <a:off x="838200" y="6127234"/>
            <a:ext cx="2438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(Kostin &amp; Strode, 2023)</a:t>
            </a:r>
          </a:p>
        </p:txBody>
      </p:sp>
    </p:spTree>
    <p:extLst>
      <p:ext uri="{BB962C8B-B14F-4D97-AF65-F5344CB8AC3E}">
        <p14:creationId xmlns:p14="http://schemas.microsoft.com/office/powerpoint/2010/main" val="403625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B64B-6AA7-8FB8-CA61-A06390770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Used Waterfall?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223C-DBB5-B926-8F39-13180CA34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Requirements </a:t>
            </a:r>
          </a:p>
          <a:p>
            <a:r>
              <a:rPr lang="en-US" dirty="0"/>
              <a:t>Most requirements would be defined before development started </a:t>
            </a:r>
          </a:p>
          <a:p>
            <a:r>
              <a:rPr lang="en-US" dirty="0"/>
              <a:t>Later changes would be harder to work into the project </a:t>
            </a:r>
          </a:p>
          <a:p>
            <a:pPr marL="0" indent="0">
              <a:buNone/>
            </a:pPr>
            <a:r>
              <a:rPr lang="en-US" dirty="0"/>
              <a:t>Project Change </a:t>
            </a:r>
          </a:p>
          <a:p>
            <a:r>
              <a:rPr lang="en-US" dirty="0"/>
              <a:t>The shift toward wellness and relaxing travel could have required going back to earlier planning and design stages </a:t>
            </a:r>
          </a:p>
          <a:p>
            <a:pPr marL="0" indent="0">
              <a:buNone/>
            </a:pPr>
            <a:r>
              <a:rPr lang="en-US" dirty="0"/>
              <a:t>Development </a:t>
            </a:r>
          </a:p>
          <a:p>
            <a:r>
              <a:rPr lang="en-US" dirty="0"/>
              <a:t>Work would move through phases in a more fixed order instead of adjusting during short iterations </a:t>
            </a:r>
          </a:p>
          <a:p>
            <a:pPr marL="0" indent="0">
              <a:buNone/>
            </a:pPr>
            <a:r>
              <a:rPr lang="en-US" dirty="0"/>
              <a:t>Main Difference </a:t>
            </a:r>
          </a:p>
          <a:p>
            <a:r>
              <a:rPr lang="en-US" dirty="0"/>
              <a:t>Agile made it easier to respond to feedback and changing requirements </a:t>
            </a:r>
          </a:p>
          <a:p>
            <a:r>
              <a:rPr lang="en-US" dirty="0"/>
              <a:t>Waterfall would have been a better fit if the project scope stayed fixed from the beginning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2E0CA-F539-8CB3-1973-AC419603EC0D}"/>
              </a:ext>
            </a:extLst>
          </p:cNvPr>
          <p:cNvSpPr txBox="1"/>
          <p:nvPr/>
        </p:nvSpPr>
        <p:spPr>
          <a:xfrm>
            <a:off x="838200" y="6176963"/>
            <a:ext cx="216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Sitorus</a:t>
            </a:r>
            <a:r>
              <a:rPr lang="en-US" dirty="0"/>
              <a:t> et al., 2025)</a:t>
            </a:r>
          </a:p>
        </p:txBody>
      </p:sp>
    </p:spTree>
    <p:extLst>
      <p:ext uri="{BB962C8B-B14F-4D97-AF65-F5344CB8AC3E}">
        <p14:creationId xmlns:p14="http://schemas.microsoft.com/office/powerpoint/2010/main" val="1164338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E836-5694-D7A4-D006-69CC315B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to </a:t>
            </a:r>
            <a:r>
              <a:rPr lang="en-US" dirty="0" err="1"/>
              <a:t>ChadaTech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4CB9-A8DD-CD57-F979-27DAB98A7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Use Agile When </a:t>
            </a:r>
          </a:p>
          <a:p>
            <a:r>
              <a:rPr lang="en-US" dirty="0"/>
              <a:t>Requirements may change during development </a:t>
            </a:r>
          </a:p>
          <a:p>
            <a:r>
              <a:rPr lang="en-US" dirty="0"/>
              <a:t>Customer feedback is important throughout the project </a:t>
            </a:r>
          </a:p>
          <a:p>
            <a:r>
              <a:rPr lang="en-US" dirty="0"/>
              <a:t>The team needs to deliver working features in smaller pieces </a:t>
            </a:r>
          </a:p>
          <a:p>
            <a:r>
              <a:rPr lang="en-US" dirty="0"/>
              <a:t>Fast adjustments and collaboration are important </a:t>
            </a:r>
          </a:p>
          <a:p>
            <a:pPr marL="0" indent="0">
              <a:buNone/>
            </a:pPr>
            <a:r>
              <a:rPr lang="en-US" dirty="0"/>
              <a:t>Use Waterfall When </a:t>
            </a:r>
          </a:p>
          <a:p>
            <a:r>
              <a:rPr lang="en-US" dirty="0"/>
              <a:t>Requirements are stable and clearly defined from the beginning </a:t>
            </a:r>
          </a:p>
          <a:p>
            <a:r>
              <a:rPr lang="en-US" dirty="0"/>
              <a:t>The project has a fixed scope with very little expected change </a:t>
            </a:r>
          </a:p>
          <a:p>
            <a:r>
              <a:rPr lang="en-US" dirty="0"/>
              <a:t>Detailed upfront planning is more important than flexibility </a:t>
            </a:r>
          </a:p>
          <a:p>
            <a:pPr marL="0" indent="0">
              <a:buNone/>
            </a:pPr>
            <a:r>
              <a:rPr lang="en-US" dirty="0"/>
              <a:t>Recommendation </a:t>
            </a:r>
          </a:p>
          <a:p>
            <a:r>
              <a:rPr lang="en-US" dirty="0" err="1"/>
              <a:t>ChadaTech</a:t>
            </a:r>
            <a:r>
              <a:rPr lang="en-US" dirty="0"/>
              <a:t> should use Agile for projects like SNHU Travel because the project changed direction during development and the team was able to adjust without restarting the entire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4C1B4-B38E-F6CB-36B7-5D02FE7EE399}"/>
              </a:ext>
            </a:extLst>
          </p:cNvPr>
          <p:cNvSpPr txBox="1"/>
          <p:nvPr/>
        </p:nvSpPr>
        <p:spPr>
          <a:xfrm>
            <a:off x="838200" y="6176963"/>
            <a:ext cx="216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Sitorus</a:t>
            </a:r>
            <a:r>
              <a:rPr lang="en-US" dirty="0"/>
              <a:t> et al., 2025)</a:t>
            </a:r>
          </a:p>
        </p:txBody>
      </p:sp>
    </p:spTree>
    <p:extLst>
      <p:ext uri="{BB962C8B-B14F-4D97-AF65-F5344CB8AC3E}">
        <p14:creationId xmlns:p14="http://schemas.microsoft.com/office/powerpoint/2010/main" val="330948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6D8D-C850-91EA-4B6C-C3883895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4780D-7422-C56D-B83D-1B6C006F4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Dmitrii Kostin, &amp; Diane Strode. (2023). Effective communication in globally distributed Scrum: A model and practical guidance. Australasian Journal of Information Systems, 27. </a:t>
            </a:r>
            <a:r>
              <a:rPr lang="en-US" dirty="0">
                <a:hlinkClick r:id="rId2"/>
              </a:rPr>
              <a:t>https://doi.org/10.3127/ajis</a:t>
            </a:r>
            <a:r>
              <a:rPr lang="en-US">
                <a:hlinkClick r:id="rId2"/>
              </a:rPr>
              <a:t>.v27i0.4501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Hassen, M. B., &amp; </a:t>
            </a:r>
            <a:r>
              <a:rPr lang="en-US" dirty="0" err="1"/>
              <a:t>Bellaaj</a:t>
            </a:r>
            <a:r>
              <a:rPr lang="en-US" dirty="0"/>
              <a:t>, A. (2026). Optimizing agile project management with a Copilot extension for Jira: Integrating AI, automation, and business intelligence. Procedia Computer Science, 278, 2028–2038. </a:t>
            </a:r>
            <a:r>
              <a:rPr lang="en-US" dirty="0">
                <a:hlinkClick r:id="rId3"/>
              </a:rPr>
              <a:t>https://doi.org/10.1016/j.procs.2026.03.200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Hidayati</a:t>
            </a:r>
            <a:r>
              <a:rPr lang="en-US" dirty="0"/>
              <a:t>, A., Budiardjo, E. K., &amp; </a:t>
            </a:r>
            <a:r>
              <a:rPr lang="en-US" dirty="0" err="1"/>
              <a:t>Purwandari</a:t>
            </a:r>
            <a:r>
              <a:rPr lang="en-US" dirty="0"/>
              <a:t>, B. (2021). Scrum team competence based on knowledge, skills, attitude in global software development. Quality - Access to Success, 22(184), 93–98. </a:t>
            </a:r>
            <a:r>
              <a:rPr lang="en-US" dirty="0">
                <a:hlinkClick r:id="rId4"/>
              </a:rPr>
              <a:t>https://doi.org/10.47750/QAS/22.184.11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Sitorus</a:t>
            </a:r>
            <a:r>
              <a:rPr lang="en-US" dirty="0"/>
              <a:t>, G. B. M. T., Ghazali Efendi, R. A., </a:t>
            </a:r>
            <a:r>
              <a:rPr lang="en-US" dirty="0" err="1"/>
              <a:t>Napitupulu</a:t>
            </a:r>
            <a:r>
              <a:rPr lang="en-US" dirty="0"/>
              <a:t>, J. F., </a:t>
            </a:r>
            <a:r>
              <a:rPr lang="en-US" dirty="0" err="1"/>
              <a:t>Pranoto</a:t>
            </a:r>
            <a:r>
              <a:rPr lang="en-US" dirty="0"/>
              <a:t>, H., &amp; Hermawan, E. S. (2025). Bridging the gap: A comparative evaluation of Agile, Waterfall, and Hybrid methodologies in modern software projects. Procedia Computer Science, 269, 1259–1268. </a:t>
            </a:r>
            <a:r>
              <a:rPr lang="en-US" dirty="0">
                <a:hlinkClick r:id="rId5"/>
              </a:rPr>
              <a:t>https://doi.org/10.1016/j.procs.2025.09.067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49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50</TotalTime>
  <Words>705</Words>
  <Application>Microsoft Macintosh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</vt:lpstr>
      <vt:lpstr>Scrum-Agile Approach SNHU Travel</vt:lpstr>
      <vt:lpstr>Scrum-Agile Team Roles</vt:lpstr>
      <vt:lpstr>Agile SDLC Phases</vt:lpstr>
      <vt:lpstr>SNHU Travel: Agile in Practice</vt:lpstr>
      <vt:lpstr>What If We Used Waterfall?</vt:lpstr>
      <vt:lpstr>Recommendation to ChadaTech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Salgado, Luis</dc:creator>
  <cp:lastModifiedBy>Morales Salgado, Luis</cp:lastModifiedBy>
  <cp:revision>1</cp:revision>
  <dcterms:created xsi:type="dcterms:W3CDTF">2026-10-16T01:19:16Z</dcterms:created>
  <dcterms:modified xsi:type="dcterms:W3CDTF">2026-10-18T17:44:15Z</dcterms:modified>
</cp:coreProperties>
</file>